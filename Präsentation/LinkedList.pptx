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58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0D3691-2989-420F-8603-F388B81FC16C}" v="80" dt="2026-05-20T14:12:12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60"/>
  </p:normalViewPr>
  <p:slideViewPr>
    <p:cSldViewPr snapToGrid="0">
      <p:cViewPr>
        <p:scale>
          <a:sx n="75" d="100"/>
          <a:sy n="75" d="100"/>
        </p:scale>
        <p:origin x="13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697ED-29B3-A5C3-25AF-5BD9B2DEC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85925B-A14D-3BB7-E200-DDEF8CC2D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3651A4-FEDC-12AB-A783-8C80EA73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D22295-8C6A-B4DB-FEED-91FF3EBD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241378-4E55-6E69-CAA8-FCD074A0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264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E2487C-390D-6413-E031-3D5497C8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751539-8D2B-5252-757C-DA99CEFC9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C035F7-169B-4612-2F08-2D4F1DB7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B2E04-E9E0-C2EE-93E3-2E0E3AF2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5FF5E2-DD68-80F7-9A44-AEA8E98D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169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C23D3-159F-17C8-1FEB-2AD93ACD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51883B-CC44-B26A-6EC8-032348791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7D857C-D928-FA75-0CC0-EBC11613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F8411F-2628-DBB5-005B-7FCEB5654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5FB8AD-2362-B9ED-73A3-126CBF8F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1285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AF32B-1F57-42AD-9C7E-B9D00997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4665C9-E78B-C521-A8F4-EE38E4139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DCC195-11FE-1DE0-BE51-2D7BA29F4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D1870F-0761-5C8E-07F3-28BDA9907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BEB22F-C5C4-714A-F7BE-D1E4C81A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53F533-2ECC-5418-9DD0-0A5F99BB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225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E9640-2B24-658E-A928-A213E5CD1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BCA69C-94AA-EA79-9C5C-92635B38E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B908D3-AA06-ADC7-4AB1-FBD0DB3AE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2515237-7ED0-CDD7-64C6-555BFEBE8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8EF619A-F8C4-F9D3-B8F4-08C205326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4ECAC8-1DC3-EFB8-836C-118C29B4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24F403B-76B0-67F3-D294-A1072C02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16F78E-88F0-32EE-3A2D-627C74C5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11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F5F28-E078-53A6-6F7F-779DB2CDD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FA64BE-C093-1539-3722-C26B7B47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ED1154-330B-65F4-7F7E-B91179F95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B84611-C1F9-A6C7-C869-507A2C7C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95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47E9AD-BC20-F901-0697-A1A58509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093F11A-2354-66B0-59D6-48563E86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5F1B6E-AE6C-A4B6-F476-9E1DBDF3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53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99D41-3DC4-C920-A567-99E9D7C3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3030C7-BAF2-BE8A-5A64-443A2F717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35BF33-8CCC-4C04-D9F0-EB306C026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CDE521-9B22-AB44-2EB8-6C2C04A1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A20601-2B2F-4CF0-2AE2-169DB6F6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D959E4-BD7D-DFDD-2B58-6F060AC7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85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33C06-8D2F-9571-EEE5-7D390129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B20B87-506C-94BF-107A-E1AF628B7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E23FDE-3EEC-5A5E-9CC7-07EFEFC1D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C7B6C0-4218-F47A-F72F-1FB8A8E6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1E8859-B1B2-6FBD-A06F-209C93DD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6490F0-8D82-66A8-7E75-D1EA3E14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35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1ED34B-F057-16C8-AC0E-B8DC948E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BF435FD-D10A-3B26-50A4-581319CC1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A2677E-9A7F-3515-C950-7EEEFAC7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2AC9C8-2A06-6BF1-F29A-F2C3280A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BC83D2-5763-610C-9AD5-6C54F0D7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96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754CDF-ABA0-85F6-EE89-EBFB33DFE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4A1CA9-5899-9EFC-B497-EC080876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8B168A-94A5-51F7-DB67-9CDA6153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D2A7F-E715-B239-C748-AC6AED6B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AADE8C-861F-D805-FC15-E6F6B517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736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4C612E-2DF4-BF77-EE7B-2AE737A2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4075C-9A19-12A5-90EB-38752A638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858098-07FC-AD07-A223-14A4D8743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CDE97-D5ED-476C-8402-E043D6C6ACA1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AA767C-CD62-59A4-4ECB-B9BA4C5EB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62D70B-1BE2-09C1-F6A7-DA344229C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BE729-AA38-46B2-83B3-2865F3868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89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CEA45-04DD-5EA1-AE6A-0E3941A1B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3884"/>
            <a:ext cx="9144000" cy="1028725"/>
          </a:xfrm>
        </p:spPr>
        <p:txBody>
          <a:bodyPr/>
          <a:lstStyle/>
          <a:p>
            <a:r>
              <a:rPr lang="de-DE" dirty="0" err="1"/>
              <a:t>LinkedList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80C7BB-8B90-2479-6618-EEBC39887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93031"/>
            <a:ext cx="9144000" cy="1655762"/>
          </a:xfrm>
        </p:spPr>
        <p:txBody>
          <a:bodyPr/>
          <a:lstStyle/>
          <a:p>
            <a:r>
              <a:rPr lang="de-DE" dirty="0"/>
              <a:t>Die Sache mit den Knoten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2BF6367-0FAD-4AD9-F3FF-DDC422B20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" t="1860" r="754" b="2068"/>
          <a:stretch>
            <a:fillRect/>
          </a:stretch>
        </p:blipFill>
        <p:spPr bwMode="auto">
          <a:xfrm>
            <a:off x="2348459" y="2420912"/>
            <a:ext cx="7495082" cy="385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79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13CC3D-EAA4-4360-035B-A7DFF1C5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C3E562-D46B-1F5A-7BDA-302D17D34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ist eine </a:t>
            </a:r>
            <a:r>
              <a:rPr lang="de-DE" dirty="0" err="1"/>
              <a:t>LinkedList</a:t>
            </a:r>
            <a:r>
              <a:rPr lang="de-DE" dirty="0"/>
              <a:t>?</a:t>
            </a:r>
          </a:p>
          <a:p>
            <a:r>
              <a:rPr lang="en-US" dirty="0"/>
              <a:t>Die </a:t>
            </a:r>
            <a:r>
              <a:rPr lang="en-US" dirty="0" err="1"/>
              <a:t>Anatomie</a:t>
            </a:r>
            <a:r>
              <a:rPr lang="en-US" dirty="0"/>
              <a:t> des Knoten</a:t>
            </a:r>
            <a:endParaRPr lang="de-DE" dirty="0"/>
          </a:p>
          <a:p>
            <a:r>
              <a:rPr lang="de-DE" dirty="0"/>
              <a:t>Programmier-Aufgabe (Live!)</a:t>
            </a:r>
          </a:p>
          <a:p>
            <a:r>
              <a:rPr lang="de-DE" dirty="0" err="1"/>
              <a:t>NullPointerException</a:t>
            </a:r>
            <a:endParaRPr lang="de-DE" dirty="0"/>
          </a:p>
          <a:p>
            <a:r>
              <a:rPr lang="de-DE" dirty="0" err="1"/>
              <a:t>LinkedList</a:t>
            </a:r>
            <a:r>
              <a:rPr lang="de-DE" dirty="0"/>
              <a:t> </a:t>
            </a:r>
            <a:r>
              <a:rPr lang="en-US" dirty="0"/>
              <a:t>vs. Array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20F33B-19A9-98CE-CD62-D0698BB1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eine </a:t>
            </a:r>
            <a:r>
              <a:rPr lang="de-DE" dirty="0" err="1"/>
              <a:t>LinkedList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6C04FE-698A-D96B-29A0-7A0662E9E5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b="1" dirty="0"/>
              <a:t>Dynamische Datenstruktur: </a:t>
            </a:r>
            <a:r>
              <a:rPr lang="de-DE" dirty="0"/>
              <a:t>Besteht aus Knoten (Nodes), die im Speicher verteilt sind.</a:t>
            </a:r>
          </a:p>
          <a:p>
            <a:r>
              <a:rPr lang="de-DE" b="1" dirty="0"/>
              <a:t>Verkettung: </a:t>
            </a:r>
            <a:r>
              <a:rPr lang="de-DE" dirty="0"/>
              <a:t>Ein Knoten beginnt beim Head und hat eine Referenz (Next) auf einen neuen Knoten.</a:t>
            </a:r>
          </a:p>
          <a:p>
            <a:r>
              <a:rPr lang="de-DE" b="1" dirty="0"/>
              <a:t>Vergleich: </a:t>
            </a:r>
            <a:r>
              <a:rPr lang="de-DE" dirty="0"/>
              <a:t>Eine Schnitzeljagd. Jeder Hinweis (Node) führt zu dem nächsten Hinweis. </a:t>
            </a:r>
          </a:p>
          <a:p>
            <a:endParaRPr lang="de-DE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002D54-D09F-9692-DC8C-FE5811C82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702" y="2341286"/>
            <a:ext cx="6131698" cy="275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72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223F774-5840-EB0C-26B9-81C0E9FF3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77" y="839779"/>
            <a:ext cx="11507646" cy="517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411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7CDECDB-67F0-9D74-D288-8E61A92E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Anatomie des Knoten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EB5E29-7DEC-13D1-BF74-134D3E4287B0}"/>
              </a:ext>
            </a:extLst>
          </p:cNvPr>
          <p:cNvSpPr/>
          <p:nvPr/>
        </p:nvSpPr>
        <p:spPr>
          <a:xfrm>
            <a:off x="715432" y="2325603"/>
            <a:ext cx="3174999" cy="351639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Data</a:t>
            </a:r>
            <a:endParaRPr lang="de-DE" b="1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Der eigentliche Wert, den wir speichern wollen (z.B. ein </a:t>
            </a:r>
            <a:r>
              <a:rPr lang="de-DE" dirty="0" err="1"/>
              <a:t>int</a:t>
            </a:r>
            <a:r>
              <a:rPr lang="de-DE" dirty="0"/>
              <a:t> oder String).</a:t>
            </a:r>
          </a:p>
          <a:p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487F463-BA4A-9352-DEB6-C9EB69B1255C}"/>
              </a:ext>
            </a:extLst>
          </p:cNvPr>
          <p:cNvSpPr/>
          <p:nvPr/>
        </p:nvSpPr>
        <p:spPr>
          <a:xfrm>
            <a:off x="4508500" y="2325603"/>
            <a:ext cx="3175000" cy="351639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Next</a:t>
            </a:r>
          </a:p>
          <a:p>
            <a:pPr algn="ctr"/>
            <a:endParaRPr lang="de-DE" b="1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br>
              <a:rPr lang="de-DE" dirty="0"/>
            </a:br>
            <a:br>
              <a:rPr lang="de-DE" dirty="0"/>
            </a:br>
            <a:r>
              <a:rPr lang="de-DE" dirty="0"/>
              <a:t>Die Referenz (der "Zeiger") auf das nächste Node-Objekt in der Kette.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DBE7F95-16F6-1091-79C9-D1EB3FA735E2}"/>
              </a:ext>
            </a:extLst>
          </p:cNvPr>
          <p:cNvSpPr/>
          <p:nvPr/>
        </p:nvSpPr>
        <p:spPr>
          <a:xfrm>
            <a:off x="8301569" y="2325602"/>
            <a:ext cx="3175000" cy="351639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Null</a:t>
            </a:r>
          </a:p>
          <a:p>
            <a:pPr algn="ctr"/>
            <a:endParaRPr lang="de-DE" b="1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dirty="0"/>
              <a:t>Das Ende der Kette. Wenn </a:t>
            </a:r>
            <a:r>
              <a:rPr lang="de-DE" i="1" dirty="0" err="1"/>
              <a:t>next</a:t>
            </a:r>
            <a:r>
              <a:rPr lang="de-DE" i="1" dirty="0"/>
              <a:t> == null</a:t>
            </a:r>
            <a:r>
              <a:rPr lang="de-DE" dirty="0"/>
              <a:t>, wissen wir: Hier ist Schluss.</a:t>
            </a:r>
          </a:p>
        </p:txBody>
      </p:sp>
      <p:sp>
        <p:nvSpPr>
          <p:cNvPr id="38" name="Flussdiagramm: Magnetplattenspeicher 37">
            <a:extLst>
              <a:ext uri="{FF2B5EF4-FFF2-40B4-BE49-F238E27FC236}">
                <a16:creationId xmlns:a16="http://schemas.microsoft.com/office/drawing/2014/main" id="{17CD68D9-4A6B-B27A-549C-10021882765B}"/>
              </a:ext>
            </a:extLst>
          </p:cNvPr>
          <p:cNvSpPr/>
          <p:nvPr/>
        </p:nvSpPr>
        <p:spPr>
          <a:xfrm>
            <a:off x="1684863" y="3352800"/>
            <a:ext cx="1187861" cy="795867"/>
          </a:xfrm>
          <a:prstGeom prst="flowChartMagneticDisk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Pfeil: nach rechts 38">
            <a:extLst>
              <a:ext uri="{FF2B5EF4-FFF2-40B4-BE49-F238E27FC236}">
                <a16:creationId xmlns:a16="http://schemas.microsoft.com/office/drawing/2014/main" id="{07E955FB-1448-821B-2999-B41AD9B6CCBF}"/>
              </a:ext>
            </a:extLst>
          </p:cNvPr>
          <p:cNvSpPr/>
          <p:nvPr/>
        </p:nvSpPr>
        <p:spPr>
          <a:xfrm>
            <a:off x="5067834" y="3352800"/>
            <a:ext cx="2056331" cy="928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Verbotsymbol 39">
            <a:extLst>
              <a:ext uri="{FF2B5EF4-FFF2-40B4-BE49-F238E27FC236}">
                <a16:creationId xmlns:a16="http://schemas.microsoft.com/office/drawing/2014/main" id="{BB453B28-90A0-AF10-9878-4F5B148D28E1}"/>
              </a:ext>
            </a:extLst>
          </p:cNvPr>
          <p:cNvSpPr/>
          <p:nvPr/>
        </p:nvSpPr>
        <p:spPr>
          <a:xfrm>
            <a:off x="9321800" y="3240022"/>
            <a:ext cx="1126069" cy="1126069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410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822F-0EB5-2EF4-D360-906E213B2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1152042-0CD8-E3F9-8429-37C3AB8A9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77" y="839779"/>
            <a:ext cx="11507646" cy="517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405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34BD53-F64D-B1EA-E58E-CC8F5EA878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Programmier-Aufgabe (Live!)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2867C9-C9D4-9A2E-4790-A9CD9C1CA0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008201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FD8EE-8E7D-EDB7-B7D3-7194900D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EB11EE-AE59-B2FF-3051-351CC90C8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Vorlage über </a:t>
            </a:r>
            <a:r>
              <a:rPr lang="de-DE"/>
              <a:t>GitHub runterladen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39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FAF8F-C0F4-DA03-DCBD-FE660D07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8992"/>
            <a:ext cx="10515600" cy="1325563"/>
          </a:xfrm>
        </p:spPr>
        <p:txBody>
          <a:bodyPr/>
          <a:lstStyle/>
          <a:p>
            <a:r>
              <a:rPr lang="de-DE" dirty="0" err="1"/>
              <a:t>LinkedList</a:t>
            </a:r>
            <a:r>
              <a:rPr lang="de-DE" dirty="0"/>
              <a:t> </a:t>
            </a:r>
            <a:r>
              <a:rPr lang="en-US" dirty="0"/>
              <a:t>vs. Array</a:t>
            </a: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2F8D836E-CF48-9668-434E-1E3A4DECD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0963"/>
              </p:ext>
            </p:extLst>
          </p:nvPr>
        </p:nvGraphicFramePr>
        <p:xfrm>
          <a:off x="1926166" y="2088329"/>
          <a:ext cx="8339667" cy="3561134"/>
        </p:xfrm>
        <a:graphic>
          <a:graphicData uri="http://schemas.openxmlformats.org/drawingml/2006/table">
            <a:tbl>
              <a:tblPr/>
              <a:tblGrid>
                <a:gridCol w="2779889">
                  <a:extLst>
                    <a:ext uri="{9D8B030D-6E8A-4147-A177-3AD203B41FA5}">
                      <a16:colId xmlns:a16="http://schemas.microsoft.com/office/drawing/2014/main" val="4120328459"/>
                    </a:ext>
                  </a:extLst>
                </a:gridCol>
                <a:gridCol w="2779889">
                  <a:extLst>
                    <a:ext uri="{9D8B030D-6E8A-4147-A177-3AD203B41FA5}">
                      <a16:colId xmlns:a16="http://schemas.microsoft.com/office/drawing/2014/main" val="1440144345"/>
                    </a:ext>
                  </a:extLst>
                </a:gridCol>
                <a:gridCol w="2779889">
                  <a:extLst>
                    <a:ext uri="{9D8B030D-6E8A-4147-A177-3AD203B41FA5}">
                      <a16:colId xmlns:a16="http://schemas.microsoft.com/office/drawing/2014/main" val="2470259294"/>
                    </a:ext>
                  </a:extLst>
                </a:gridCol>
              </a:tblGrid>
              <a:tr h="64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Eigenschaft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Array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b="1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LinkedList</a:t>
                      </a:r>
                      <a:endParaRPr lang="de-DE" b="1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105916"/>
                  </a:ext>
                </a:extLst>
              </a:tr>
              <a:tr h="64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Speicher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Kontinuierlicher Block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Verteilt (Dynamisch)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810585"/>
                  </a:ext>
                </a:extLst>
              </a:tr>
              <a:tr h="64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>
                          <a:solidFill>
                            <a:schemeClr val="bg1"/>
                          </a:solidFill>
                          <a:effectLst/>
                        </a:rPr>
                        <a:t>Zugriff (Index)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>
                          <a:solidFill>
                            <a:schemeClr val="bg1"/>
                          </a:solidFill>
                          <a:effectLst/>
                        </a:rPr>
                        <a:t>Schnell (O(1))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Langsam (O(n))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01057"/>
                  </a:ext>
                </a:extLst>
              </a:tr>
              <a:tr h="9802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>
                          <a:solidFill>
                            <a:schemeClr val="bg1"/>
                          </a:solidFill>
                          <a:effectLst/>
                        </a:rPr>
                        <a:t>Einfügen/Löschen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Aufwendig (Shifting)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Schnell (Pointer-Swap)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184348"/>
                  </a:ext>
                </a:extLst>
              </a:tr>
              <a:tr h="645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>
                          <a:solidFill>
                            <a:schemeClr val="bg1"/>
                          </a:solidFill>
                          <a:effectLst/>
                        </a:rPr>
                        <a:t>Größe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>
                          <a:solidFill>
                            <a:schemeClr val="bg1"/>
                          </a:solidFill>
                          <a:effectLst/>
                        </a:rPr>
                        <a:t>Statisch / Fest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e-DE" dirty="0">
                          <a:solidFill>
                            <a:schemeClr val="bg1"/>
                          </a:solidFill>
                          <a:effectLst/>
                        </a:rPr>
                        <a:t>Flexibel / Wachsend</a:t>
                      </a:r>
                    </a:p>
                  </a:txBody>
                  <a:tcPr marL="127000" marR="127000" marT="127000" marB="127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05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652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Breitbild</PresentationFormat>
  <Paragraphs>53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Poppins</vt:lpstr>
      <vt:lpstr>Office</vt:lpstr>
      <vt:lpstr>LinkedList</vt:lpstr>
      <vt:lpstr>Inhalt</vt:lpstr>
      <vt:lpstr>Was ist eine LinkedList?</vt:lpstr>
      <vt:lpstr>PowerPoint-Präsentation</vt:lpstr>
      <vt:lpstr>Die Anatomie des Knoten</vt:lpstr>
      <vt:lpstr>PowerPoint-Präsentation</vt:lpstr>
      <vt:lpstr>Programmier-Aufgabe (Live!)</vt:lpstr>
      <vt:lpstr>Ablauf</vt:lpstr>
      <vt:lpstr>LinkedList vs. Array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Schuster, Tim</dc:creator>
  <cp:lastModifiedBy>Schuster, Tim</cp:lastModifiedBy>
  <cp:revision>2</cp:revision>
  <dcterms:created xsi:type="dcterms:W3CDTF">2026-05-13T16:56:10Z</dcterms:created>
  <dcterms:modified xsi:type="dcterms:W3CDTF">2026-05-20T15:10:56Z</dcterms:modified>
</cp:coreProperties>
</file>